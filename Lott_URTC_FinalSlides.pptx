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9" d="100"/>
          <a:sy n="99" d="100"/>
        </p:scale>
        <p:origin x="472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5361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I’m James Lott from the University of San Diego. Most multi-robot task-allocation research asks how to make the allocator itself better. We asked a simpler deployment question: does the allocator actually need to see every available task every time it runs? In this work, we put a very simple Top-K filter in front of six existing decentralized allocators and measured what happened to mission performance and compute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mechanism is intentionally simple. At every allocation event, each robot forms its locally valid task set, ranks those candidates — in this Collaborative Visit experiment, primarily by Manhattan distance — and only passes the first K into the allocator. We never modify the internals of the allocator. We tested four robots visiting fifty known targets on a 19-by-19 grid, across six very different decentralized allocation methods and eight candidate limits. Reusing the same one hundred scenarios across conditions gave 4,800 paired trials.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result. At ten percent retention — just five of the original fifty targets — the average computation per allocator call fell by 62.2 percent, while the maximum-robot-step metric increased by only 3.9 percent. The scatter shows why a single number does not tell the whole story: the response depends strongly on the allocator. CBAA gives up essentially no mean mission performance but has less compute to save. DGA is especially interesting here: about an eighty percent compute reduction for only about a two percent step penalty. HIPC and DMCHBA save even more compute, but pay around an eight percent mission penalty. So Top-K is best viewed as a tunable operating point, not a universal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embedded result is where this stops being just an optimization story. On the RP2040, DMCHBA exceeded our thirty-second per-call guard at the large candidate sets. At fifty percent retention it became feasible, and at ten percent retention it reached roughly ninety-six milliseconds per call. In other words, candidate restriction can move an allocator between hardware execution regimes, not just make it incrementally faster. The takeaway is that candidate-set size should be treated as a deployment parameter. The natural next step is to let the robot adapt K online based on measured computation and the deadline it has available.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6519672"/>
            <a:ext cx="11274552" cy="0"/>
          </a:xfrm>
          <a:prstGeom prst="line">
            <a:avLst/>
          </a:prstGeom>
          <a:noFill/>
          <a:ln w="10160">
            <a:solidFill>
              <a:srgbClr val="D9DEE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D87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San Diego • MIT IEEE URTC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5269" y="1182233"/>
            <a:ext cx="1052146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Candidate-Set Restriction for Computationally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Efficient Decentralized Multi-Robot Task Allocation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718560" y="2914542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024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Presenter: James Lott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2024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Advisor: Dr. Vahraz Honary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930140" y="3881227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988756" y="389617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IEEE URTC 2026</a:t>
            </a:r>
            <a:endParaRPr lang="en-US" sz="1100" dirty="0"/>
          </a:p>
        </p:txBody>
      </p:sp>
      <p:pic>
        <p:nvPicPr>
          <p:cNvPr id="10" name="Image 0" descr="/mnt/data/us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1115" y="3733762"/>
            <a:ext cx="3222037" cy="2621318"/>
          </a:xfrm>
          <a:prstGeom prst="rect">
            <a:avLst/>
          </a:prstGeom>
        </p:spPr>
      </p:pic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robots need to consider every task?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30352" y="1234440"/>
            <a:ext cx="4754880" cy="4069080"/>
          </a:xfrm>
          <a:prstGeom prst="roundRect">
            <a:avLst>
              <a:gd name="adj" fmla="val 1798"/>
            </a:avLst>
          </a:prstGeom>
          <a:solidFill>
            <a:srgbClr val="F4F8FF"/>
          </a:solidFill>
          <a:ln w="15240">
            <a:solidFill>
              <a:srgbClr val="D8E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4475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valid targets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88649" y="4389120"/>
            <a:ext cx="164958" cy="164958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4531584"/>
            <a:ext cx="412394" cy="284927"/>
          </a:xfrm>
          <a:prstGeom prst="roundRect">
            <a:avLst>
              <a:gd name="adj" fmla="val 22465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3668" y="4771522"/>
            <a:ext cx="104973" cy="104973"/>
          </a:xfrm>
          <a:prstGeom prst="ellipse">
            <a:avLst/>
          </a:prstGeom>
          <a:solidFill>
            <a:srgbClr val="20242B"/>
          </a:solidFill>
          <a:ln w="12700">
            <a:solidFill>
              <a:srgbClr val="202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1113" y="4771522"/>
            <a:ext cx="104973" cy="104973"/>
          </a:xfrm>
          <a:prstGeom prst="ellipse">
            <a:avLst/>
          </a:prstGeom>
          <a:solidFill>
            <a:srgbClr val="20242B"/>
          </a:solidFill>
          <a:ln w="12700">
            <a:solidFill>
              <a:srgbClr val="202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1128" y="4299143"/>
            <a:ext cx="0" cy="97475"/>
          </a:xfrm>
          <a:prstGeom prst="line">
            <a:avLst/>
          </a:prstGeom>
          <a:noFill/>
          <a:ln w="15240">
            <a:solidFill>
              <a:srgbClr val="1155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83080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93976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4872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15768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37560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48456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9352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70248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81144" y="1901952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83080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93976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404872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15768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26664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37560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48456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59352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70248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81144" y="2414016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83080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093976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04872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15768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26664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37560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48456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959352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70248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81144" y="2926080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783080" y="3438144"/>
            <a:ext cx="146304" cy="146304"/>
          </a:xfrm>
          <a:prstGeom prst="ellipse">
            <a:avLst/>
          </a:prstGeom>
          <a:solidFill>
            <a:srgbClr val="1155CC"/>
          </a:solidFill>
          <a:ln w="16510">
            <a:solidFill>
              <a:srgbClr val="1155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093976" y="3438144"/>
            <a:ext cx="146304" cy="146304"/>
          </a:xfrm>
          <a:prstGeom prst="ellipse">
            <a:avLst/>
          </a:prstGeom>
          <a:solidFill>
            <a:srgbClr val="1155CC"/>
          </a:solidFill>
          <a:ln w="16510">
            <a:solidFill>
              <a:srgbClr val="1155CC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404872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15768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026664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37560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48456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959352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70248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81144" y="3438144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783080" y="3950208"/>
            <a:ext cx="146304" cy="146304"/>
          </a:xfrm>
          <a:prstGeom prst="ellipse">
            <a:avLst/>
          </a:prstGeom>
          <a:solidFill>
            <a:srgbClr val="1155CC"/>
          </a:solidFill>
          <a:ln w="16510">
            <a:solidFill>
              <a:srgbClr val="1155C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093976" y="3950208"/>
            <a:ext cx="146304" cy="146304"/>
          </a:xfrm>
          <a:prstGeom prst="ellipse">
            <a:avLst/>
          </a:prstGeom>
          <a:solidFill>
            <a:srgbClr val="1155CC"/>
          </a:solidFill>
          <a:ln w="16510">
            <a:solidFill>
              <a:srgbClr val="1155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404872" y="3950208"/>
            <a:ext cx="146304" cy="146304"/>
          </a:xfrm>
          <a:prstGeom prst="ellipse">
            <a:avLst/>
          </a:prstGeom>
          <a:solidFill>
            <a:srgbClr val="1155CC"/>
          </a:solidFill>
          <a:ln w="16510">
            <a:solidFill>
              <a:srgbClr val="1155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715768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026664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3337560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48456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959352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270248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581144" y="3950208"/>
            <a:ext cx="146304" cy="146304"/>
          </a:xfrm>
          <a:prstGeom prst="ellipse">
            <a:avLst/>
          </a:prstGeom>
          <a:solidFill>
            <a:srgbClr val="FFFFFF">
              <a:alpha val="90000"/>
            </a:srgbClr>
          </a:solidFill>
          <a:ln w="10160">
            <a:solidFill>
              <a:srgbClr val="C9D0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8096" y="489204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 locally (distance here) → keep only the best K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5806440" y="1627632"/>
            <a:ext cx="1161288" cy="185623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27064" y="1380744"/>
            <a:ext cx="320040" cy="320040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227064" y="14264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916168" y="1956816"/>
            <a:ext cx="94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valid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set</a:t>
            </a:r>
            <a:endParaRPr lang="en-US" sz="1350" dirty="0"/>
          </a:p>
        </p:txBody>
      </p:sp>
      <p:sp>
        <p:nvSpPr>
          <p:cNvPr id="66" name="Shape 64"/>
          <p:cNvSpPr/>
          <p:nvPr/>
        </p:nvSpPr>
        <p:spPr>
          <a:xfrm>
            <a:off x="5934456" y="2907792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788496"/>
          </a:solidFill>
          <a:ln w="12700">
            <a:solidFill>
              <a:srgbClr val="78849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934456" y="29260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tasks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995160" y="2331720"/>
            <a:ext cx="201168" cy="246888"/>
          </a:xfrm>
          <a:prstGeom prst="chevron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223760" y="1627632"/>
            <a:ext cx="1161288" cy="185623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644384" y="1380744"/>
            <a:ext cx="320040" cy="320040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644384" y="14264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333488" y="1956816"/>
            <a:ext cx="94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candidates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7351776" y="2907792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788496"/>
          </a:solidFill>
          <a:ln w="12700">
            <a:solidFill>
              <a:srgbClr val="78849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51776" y="29260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8412480" y="2331720"/>
            <a:ext cx="201168" cy="246888"/>
          </a:xfrm>
          <a:prstGeom prst="chevron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641080" y="1627632"/>
            <a:ext cx="1161288" cy="1856232"/>
          </a:xfrm>
          <a:prstGeom prst="roundRect">
            <a:avLst>
              <a:gd name="adj" fmla="val 6299"/>
            </a:avLst>
          </a:prstGeom>
          <a:solidFill>
            <a:srgbClr val="EAF2FF"/>
          </a:solidFill>
          <a:ln w="22860">
            <a:solidFill>
              <a:srgbClr val="1155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061704" y="1380744"/>
            <a:ext cx="320040" cy="320040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061704" y="14264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8750808" y="1956816"/>
            <a:ext cx="94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Top-K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8769096" y="2907792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8769096" y="29260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829800" y="2331720"/>
            <a:ext cx="201168" cy="246888"/>
          </a:xfrm>
          <a:prstGeom prst="chevron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058400" y="1627632"/>
            <a:ext cx="1161288" cy="1856232"/>
          </a:xfrm>
          <a:prstGeom prst="roundRect">
            <a:avLst>
              <a:gd name="adj" fmla="val 6299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479024" y="1380744"/>
            <a:ext cx="320040" cy="320040"/>
          </a:xfrm>
          <a:prstGeom prst="ellipse">
            <a:avLst/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0479024" y="1426464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86" name="Text 84"/>
          <p:cNvSpPr/>
          <p:nvPr/>
        </p:nvSpPr>
        <p:spPr>
          <a:xfrm>
            <a:off x="10168128" y="1956816"/>
            <a:ext cx="941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allocator</a:t>
            </a:r>
            <a:endParaRPr lang="en-US" sz="1350" dirty="0"/>
          </a:p>
        </p:txBody>
      </p:sp>
      <p:sp>
        <p:nvSpPr>
          <p:cNvPr id="87" name="Shape 85"/>
          <p:cNvSpPr/>
          <p:nvPr/>
        </p:nvSpPr>
        <p:spPr>
          <a:xfrm>
            <a:off x="10186416" y="2907792"/>
            <a:ext cx="905256" cy="329184"/>
          </a:xfrm>
          <a:prstGeom prst="roundRect">
            <a:avLst>
              <a:gd name="adj" fmla="val 22222"/>
            </a:avLst>
          </a:prstGeom>
          <a:solidFill>
            <a:srgbClr val="788496"/>
          </a:solidFill>
          <a:ln w="12700">
            <a:solidFill>
              <a:srgbClr val="788496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10186416" y="2926080"/>
            <a:ext cx="9052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998464" y="3767328"/>
            <a:ext cx="5285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Same allocator logic. Smaller problem.</a:t>
            </a:r>
            <a:endParaRPr lang="en-US" sz="1900" dirty="0"/>
          </a:p>
        </p:txBody>
      </p:sp>
      <p:sp>
        <p:nvSpPr>
          <p:cNvPr id="90" name="Text 88"/>
          <p:cNvSpPr/>
          <p:nvPr/>
        </p:nvSpPr>
        <p:spPr>
          <a:xfrm>
            <a:off x="658368" y="5577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91" name="Text 89"/>
          <p:cNvSpPr/>
          <p:nvPr/>
        </p:nvSpPr>
        <p:spPr>
          <a:xfrm>
            <a:off x="658368" y="5925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robots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2331720" y="5605272"/>
            <a:ext cx="0" cy="493776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2926080" y="5577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900" dirty="0"/>
          </a:p>
        </p:txBody>
      </p:sp>
      <p:sp>
        <p:nvSpPr>
          <p:cNvPr id="94" name="Text 92"/>
          <p:cNvSpPr/>
          <p:nvPr/>
        </p:nvSpPr>
        <p:spPr>
          <a:xfrm>
            <a:off x="2926080" y="5925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targets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4599432" y="5605272"/>
            <a:ext cx="0" cy="493776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5193792" y="5577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900" dirty="0"/>
          </a:p>
        </p:txBody>
      </p:sp>
      <p:sp>
        <p:nvSpPr>
          <p:cNvPr id="97" name="Text 95"/>
          <p:cNvSpPr/>
          <p:nvPr/>
        </p:nvSpPr>
        <p:spPr>
          <a:xfrm>
            <a:off x="5193792" y="5925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allocators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6867144" y="5605272"/>
            <a:ext cx="0" cy="493776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7461504" y="5577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900" dirty="0"/>
          </a:p>
        </p:txBody>
      </p:sp>
      <p:sp>
        <p:nvSpPr>
          <p:cNvPr id="100" name="Text 98"/>
          <p:cNvSpPr/>
          <p:nvPr/>
        </p:nvSpPr>
        <p:spPr>
          <a:xfrm>
            <a:off x="7461504" y="5925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levels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9134856" y="5605272"/>
            <a:ext cx="0" cy="493776"/>
          </a:xfrm>
          <a:prstGeom prst="line">
            <a:avLst/>
          </a:prstGeom>
          <a:noFill/>
          <a:ln w="12700">
            <a:solidFill>
              <a:srgbClr val="D9DEE7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9729216" y="5577840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4,800</a:t>
            </a:r>
            <a:endParaRPr lang="en-US" sz="1900" dirty="0"/>
          </a:p>
        </p:txBody>
      </p:sp>
      <p:sp>
        <p:nvSpPr>
          <p:cNvPr id="103" name="Text 101"/>
          <p:cNvSpPr/>
          <p:nvPr/>
        </p:nvSpPr>
        <p:spPr>
          <a:xfrm>
            <a:off x="9729216" y="5925312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trials</a:t>
            </a:r>
            <a:endParaRPr lang="en-US" sz="950" dirty="0"/>
          </a:p>
        </p:txBody>
      </p:sp>
      <p:sp>
        <p:nvSpPr>
          <p:cNvPr id="10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 10% retention, compute fell faster than performance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18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 of the initial 50 targets — paired change relative to unrestricted execution.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04672" y="1417320"/>
            <a:ext cx="3560674" cy="1520190"/>
          </a:xfrm>
          <a:prstGeom prst="rect">
            <a:avLst/>
          </a:prstGeom>
          <a:solidFill>
            <a:srgbClr val="EAF2FF">
              <a:alpha val="85000"/>
            </a:srgbClr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9264" y="155448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savings / low penalty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04672" y="5760720"/>
            <a:ext cx="6473952" cy="0"/>
          </a:xfrm>
          <a:prstGeom prst="line">
            <a:avLst/>
          </a:prstGeom>
          <a:noFill/>
          <a:ln w="15240">
            <a:solidFill>
              <a:srgbClr val="202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17320"/>
            <a:ext cx="0" cy="4343400"/>
          </a:xfrm>
          <a:prstGeom prst="line">
            <a:avLst/>
          </a:prstGeom>
          <a:noFill/>
          <a:ln w="15240">
            <a:solidFill>
              <a:srgbClr val="202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99462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80590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99462" y="1417320"/>
            <a:ext cx="0" cy="434340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94253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75381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394253" y="1417320"/>
            <a:ext cx="0" cy="434340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9043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0171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89043" y="1417320"/>
            <a:ext cx="0" cy="434340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3834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64962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83834" y="1417320"/>
            <a:ext cx="0" cy="434340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78624" y="5760720"/>
            <a:ext cx="0" cy="73152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59752" y="5870448"/>
            <a:ext cx="237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278624" y="1417320"/>
            <a:ext cx="0" cy="434340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0664" y="576072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" y="56601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40664" y="489204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479145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4672" y="4892040"/>
            <a:ext cx="6473952" cy="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40664" y="402336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336" y="392277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804672" y="4023360"/>
            <a:ext cx="6473952" cy="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40664" y="315468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05409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4672" y="3154680"/>
            <a:ext cx="6473952" cy="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0664" y="228600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" y="218541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04672" y="2286000"/>
            <a:ext cx="6473952" cy="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0664" y="1417320"/>
            <a:ext cx="64008" cy="0"/>
          </a:xfrm>
          <a:prstGeom prst="line">
            <a:avLst/>
          </a:prstGeom>
          <a:noFill/>
          <a:ln w="10160">
            <a:solidFill>
              <a:srgbClr val="20242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" y="13167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4672" y="1417320"/>
            <a:ext cx="6473952" cy="0"/>
          </a:xfrm>
          <a:prstGeom prst="line">
            <a:avLst/>
          </a:prstGeom>
          <a:noFill/>
          <a:ln w="7620">
            <a:solidFill>
              <a:srgbClr val="E6E9E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313432" y="6199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penalty  (% increase in max-robot steps)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04672" y="116128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saved per allocator call (%)  ↑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22376" y="4588231"/>
            <a:ext cx="164592" cy="16459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4551655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CBAA</a:t>
            </a:r>
            <a:endParaRPr lang="en-US" sz="970" dirty="0"/>
          </a:p>
        </p:txBody>
      </p:sp>
      <p:sp>
        <p:nvSpPr>
          <p:cNvPr id="46" name="Shape 44"/>
          <p:cNvSpPr/>
          <p:nvPr/>
        </p:nvSpPr>
        <p:spPr>
          <a:xfrm>
            <a:off x="1434511" y="3471977"/>
            <a:ext cx="164592" cy="16459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26535" y="3389681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ACBBA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2923520" y="3806419"/>
            <a:ext cx="164592" cy="16459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133832" y="3943579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</a:t>
            </a:r>
            <a:endParaRPr lang="en-US" sz="970" dirty="0"/>
          </a:p>
        </p:txBody>
      </p:sp>
      <p:sp>
        <p:nvSpPr>
          <p:cNvPr id="50" name="Shape 48"/>
          <p:cNvSpPr/>
          <p:nvPr/>
        </p:nvSpPr>
        <p:spPr>
          <a:xfrm>
            <a:off x="5966277" y="1934413"/>
            <a:ext cx="164592" cy="16459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62773" y="1852117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HIPC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6225235" y="1843202"/>
            <a:ext cx="164592" cy="164592"/>
          </a:xfrm>
          <a:prstGeom prst="ellipse">
            <a:avLst/>
          </a:prstGeom>
          <a:solidFill>
            <a:srgbClr val="1155C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44691" y="1971218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DMCHBA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2081906" y="2216734"/>
            <a:ext cx="164592" cy="164592"/>
          </a:xfrm>
          <a:prstGeom prst="ellipse">
            <a:avLst/>
          </a:prstGeom>
          <a:solidFill>
            <a:srgbClr val="173B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92218" y="2116150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DGA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7726680" y="1536192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F4F8FF"/>
          </a:solidFill>
          <a:ln w="13970">
            <a:solidFill>
              <a:srgbClr val="D8E6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955280" y="17922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62.2%</a:t>
            </a:r>
            <a:endParaRPr lang="en-US" sz="3500" dirty="0"/>
          </a:p>
        </p:txBody>
      </p:sp>
      <p:sp>
        <p:nvSpPr>
          <p:cNvPr id="58" name="Text 56"/>
          <p:cNvSpPr/>
          <p:nvPr/>
        </p:nvSpPr>
        <p:spPr>
          <a:xfrm>
            <a:off x="7955280" y="24688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compute reduction</a:t>
            </a:r>
            <a:endParaRPr lang="en-US" sz="1250" dirty="0"/>
          </a:p>
        </p:txBody>
      </p:sp>
      <p:sp>
        <p:nvSpPr>
          <p:cNvPr id="59" name="Text 57"/>
          <p:cNvSpPr/>
          <p:nvPr/>
        </p:nvSpPr>
        <p:spPr>
          <a:xfrm>
            <a:off x="7955280" y="28346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filtering overhead included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726680" y="3611880"/>
            <a:ext cx="37490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C9D0D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3776472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3200" dirty="0"/>
          </a:p>
        </p:txBody>
      </p:sp>
      <p:sp>
        <p:nvSpPr>
          <p:cNvPr id="62" name="Text 60"/>
          <p:cNvSpPr/>
          <p:nvPr/>
        </p:nvSpPr>
        <p:spPr>
          <a:xfrm>
            <a:off x="7955280" y="44256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max-step degradation</a:t>
            </a:r>
            <a:endParaRPr lang="en-US" sz="1220" dirty="0"/>
          </a:p>
        </p:txBody>
      </p:sp>
      <p:sp>
        <p:nvSpPr>
          <p:cNvPr id="63" name="Shape 61"/>
          <p:cNvSpPr/>
          <p:nvPr/>
        </p:nvSpPr>
        <p:spPr>
          <a:xfrm>
            <a:off x="7936992" y="5440680"/>
            <a:ext cx="3328416" cy="329184"/>
          </a:xfrm>
          <a:prstGeom prst="roundRect">
            <a:avLst>
              <a:gd name="adj" fmla="val 22222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936992" y="5458968"/>
            <a:ext cx="3328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is allocator-specific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845552" y="587044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DGA saved 79.7% compute with +2.1% steps.</a:t>
            </a:r>
            <a:endParaRPr lang="en-US" sz="1020" dirty="0"/>
          </a:p>
        </p:txBody>
      </p:sp>
      <p:sp>
        <p:nvSpPr>
          <p:cNvPr id="6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201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55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RP2040, restriction changed what was runnable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1018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DMCHBA, candidate restriction crossed an embedded execution-feasibility boundary.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8877" y="5769864"/>
            <a:ext cx="3968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Pololu 3pi+ 2040 • RP2040 microcontroller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897880" y="137160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024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DMCHBA on RP2040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870448" y="1975104"/>
            <a:ext cx="5239512" cy="585216"/>
          </a:xfrm>
          <a:prstGeom prst="roundRect">
            <a:avLst>
              <a:gd name="adj" fmla="val 9375"/>
            </a:avLst>
          </a:prstGeom>
          <a:solidFill>
            <a:srgbClr val="FCF3F2"/>
          </a:solidFill>
          <a:ln w="11430">
            <a:solidFill>
              <a:srgbClr val="E4C0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209397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85432" y="21305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37576" y="2112264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30 s guard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68712" y="2103120"/>
            <a:ext cx="310896" cy="310896"/>
          </a:xfrm>
          <a:prstGeom prst="ellipse">
            <a:avLst/>
          </a:prstGeom>
          <a:solidFill>
            <a:srgbClr val="C93C37"/>
          </a:solidFill>
          <a:ln w="12700">
            <a:solidFill>
              <a:srgbClr val="C93C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68712" y="2098548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870448" y="2770632"/>
            <a:ext cx="5239512" cy="585216"/>
          </a:xfrm>
          <a:prstGeom prst="roundRect">
            <a:avLst>
              <a:gd name="adj" fmla="val 9375"/>
            </a:avLst>
          </a:prstGeom>
          <a:solidFill>
            <a:srgbClr val="FCF3F2"/>
          </a:solidFill>
          <a:ln w="11430">
            <a:solidFill>
              <a:srgbClr val="E4C0B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88950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85432" y="29260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38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037576" y="2907792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30 s guard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268712" y="2898648"/>
            <a:ext cx="310896" cy="310896"/>
          </a:xfrm>
          <a:prstGeom prst="ellipse">
            <a:avLst/>
          </a:prstGeom>
          <a:solidFill>
            <a:srgbClr val="C93C37"/>
          </a:solidFill>
          <a:ln w="12700">
            <a:solidFill>
              <a:srgbClr val="C93C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268712" y="2894076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70448" y="3566160"/>
            <a:ext cx="5239512" cy="585216"/>
          </a:xfrm>
          <a:prstGeom prst="roundRect">
            <a:avLst>
              <a:gd name="adj" fmla="val 9375"/>
            </a:avLst>
          </a:prstGeom>
          <a:solidFill>
            <a:srgbClr val="F1F8F4"/>
          </a:solidFill>
          <a:ln w="11430">
            <a:solidFill>
              <a:srgbClr val="B7D7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80760" y="368503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885432" y="37216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25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37576" y="3703320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feasible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268712" y="3694176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268712" y="3689604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70448" y="4361688"/>
            <a:ext cx="5239512" cy="585216"/>
          </a:xfrm>
          <a:prstGeom prst="roundRect">
            <a:avLst>
              <a:gd name="adj" fmla="val 9375"/>
            </a:avLst>
          </a:prstGeom>
          <a:solidFill>
            <a:srgbClr val="F1F8F4"/>
          </a:solidFill>
          <a:ln w="11430">
            <a:solidFill>
              <a:srgbClr val="B7D7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80760" y="448056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155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885432" y="45171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 = 5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037576" y="4498848"/>
            <a:ext cx="1847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4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96 ms / call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268712" y="4489704"/>
            <a:ext cx="310896" cy="310896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268712" y="4485132"/>
            <a:ext cx="310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5870448" y="5440680"/>
            <a:ext cx="5239512" cy="658368"/>
          </a:xfrm>
          <a:prstGeom prst="roundRect">
            <a:avLst>
              <a:gd name="adj" fmla="val 8333"/>
            </a:avLst>
          </a:prstGeom>
          <a:solidFill>
            <a:srgbClr val="1155CC"/>
          </a:solidFill>
          <a:ln w="12700">
            <a:solidFill>
              <a:srgbClr val="1155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117336" y="559612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Candidate-set size is a deployment parameter.</a:t>
            </a:r>
            <a:endParaRPr lang="en-US" sz="1800" dirty="0"/>
          </a:p>
        </p:txBody>
      </p:sp>
      <p:sp>
        <p:nvSpPr>
          <p:cNvPr id="4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59436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7D879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97895666-0AB4-CC71-51AA-F4043F0649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027" y="1270307"/>
            <a:ext cx="3438837" cy="44995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674</Words>
  <Application>Microsoft Office PowerPoint</Application>
  <PresentationFormat>Widescreen</PresentationFormat>
  <Paragraphs>98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University of San Diego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Candidate-Set Restriction for Computationally Efficient Decentralized Multi-Robot Task Allocation</dc:title>
  <dc:subject>MIT IEEE URTC 2026 lightning talk</dc:subject>
  <dc:creator>James Lott</dc:creator>
  <cp:lastModifiedBy>james lott</cp:lastModifiedBy>
  <cp:revision>2</cp:revision>
  <dcterms:created xsi:type="dcterms:W3CDTF">2026-09-26T03:52:51Z</dcterms:created>
  <dcterms:modified xsi:type="dcterms:W3CDTF">2026-09-26T04:12:55Z</dcterms:modified>
</cp:coreProperties>
</file>